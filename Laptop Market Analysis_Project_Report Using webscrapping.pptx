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Roboto Medium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Libre Baskervill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8fJZXKtfMYUOOkMmjsLeWIcke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C30E01-7521-44D5-A1A9-0422751B4B0D}">
  <a:tblStyle styleId="{27C30E01-7521-44D5-A1A9-0422751B4B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edium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Medium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LibreBaskerville-bold.fntdata"/><Relationship Id="rId10" Type="http://schemas.openxmlformats.org/officeDocument/2006/relationships/slide" Target="slides/slide5.xml"/><Relationship Id="rId32" Type="http://schemas.openxmlformats.org/officeDocument/2006/relationships/font" Target="fonts/LibreBaskerville-regular.fntdata"/><Relationship Id="rId13" Type="http://schemas.openxmlformats.org/officeDocument/2006/relationships/slide" Target="slides/slide8.xml"/><Relationship Id="rId35" Type="http://schemas.openxmlformats.org/officeDocument/2006/relationships/font" Target="fonts/LibreBaskerville-boldItalic.fntdata"/><Relationship Id="rId12" Type="http://schemas.openxmlformats.org/officeDocument/2006/relationships/slide" Target="slides/slide7.xml"/><Relationship Id="rId34" Type="http://schemas.openxmlformats.org/officeDocument/2006/relationships/font" Target="fonts/LibreBaskervill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cdcf551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cdcf551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bcdcf551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0a21b44cf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0a21b44cf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40a21b44cf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a21b44cf2_0_2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0a21b44cf2_0_2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40a21b44cf2_0_2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0a21b44cf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0a21b44cf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40a21b44cf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a21b44cf2_0_2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0a21b44cf2_0_2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40a21b44cf2_0_2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a21b44cf2_0_2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0a21b44cf2_0_2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40a21b44cf2_0_2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40a21b44cf2_0_2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40a21b44cf2_0_2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40a21b44cf2_0_2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a21b44cf2_0_24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0a21b44cf2_0_24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40a21b44cf2_0_24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a21b44cf2_0_24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0a21b44cf2_0_24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40a21b44cf2_0_24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a21b44cf2_0_24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0a21b44cf2_0_24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40a21b44cf2_0_24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70f45ea2bda48d7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70f45ea2bda48d7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70f45ea2bda48d73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70f45ea2bda48d7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70f45ea2bda48d7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70f45ea2bda48d73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amazon.i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in/s?k=laptops&amp;page=%7Bpag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Laptop Market Analysis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794" y="1299175"/>
            <a:ext cx="10396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completed my MBA from Christ University Bangalore on LOS (Lean Operations and systems)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Worked as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analyst and SAP Consultant for over 5 years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wanted to restart my career after a break, so using this time to upskill where the technology is heading. DS interests me as it combines technology, analytical thinking and problem solving. Also I see data science and AI becoming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increasingly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across industries, so i wanted to use this time to develop a new skill set and create a stronger foundation for my return to work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b="0" i="0" lang="en-IN" sz="3200" u="none" cap="none" strike="noStrik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0000"/>
                </a:solidFill>
              </a:rPr>
              <a:t>Agenda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Introduction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Business Problem Statement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Project Objective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Website Selection &amp; Data Source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Web Scraping Methodology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Technologies &amp; Libraries Used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Data Collection Process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Raw Dataset Overview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Data Cleaning &amp; Preprocessing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Exploratory Data Analysis (EDA)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Key Analysis Questions (Use Cases)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Visualizations &amp; Insights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Conclusion &amp; Key Findings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Challenges Faced During the Project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Future Improvements</a:t>
            </a:r>
            <a:endParaRPr b="1" sz="1800"/>
          </a:p>
          <a:p>
            <a:pPr indent="-3429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IN" sz="1800"/>
              <a:t>Q&amp;A</a:t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cdcf5514_0_5"/>
          <p:cNvSpPr/>
          <p:nvPr/>
        </p:nvSpPr>
        <p:spPr>
          <a:xfrm>
            <a:off x="918025" y="3184075"/>
            <a:ext cx="10299300" cy="2313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bcdcf5514_0_5"/>
          <p:cNvSpPr/>
          <p:nvPr/>
        </p:nvSpPr>
        <p:spPr>
          <a:xfrm>
            <a:off x="946350" y="424550"/>
            <a:ext cx="10299300" cy="2514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bcdcf5514_0_5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90000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944"/>
              <a:t>Introduction:</a:t>
            </a:r>
            <a:endParaRPr b="1" sz="1244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This project focuses on collecting laptop product information </a:t>
            </a:r>
            <a:r>
              <a:rPr lang="en-IN" sz="1478"/>
              <a:t>available</a:t>
            </a:r>
            <a:r>
              <a:rPr lang="en-IN" sz="1478"/>
              <a:t> in Amazon India</a:t>
            </a:r>
            <a:endParaRPr sz="1478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Amazon offers wide range of laptops from various brands with processors, RAM </a:t>
            </a:r>
            <a:r>
              <a:rPr lang="en-IN" sz="1478"/>
              <a:t>configurations</a:t>
            </a:r>
            <a:r>
              <a:rPr lang="en-IN" sz="1478"/>
              <a:t>, </a:t>
            </a:r>
            <a:r>
              <a:rPr lang="en-IN" sz="1478"/>
              <a:t>storage</a:t>
            </a:r>
            <a:r>
              <a:rPr lang="en-IN" sz="1478"/>
              <a:t> capabilities and price range</a:t>
            </a:r>
            <a:endParaRPr sz="1478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With these multiple options it was difficult to </a:t>
            </a:r>
            <a:r>
              <a:rPr lang="en-IN" sz="1478"/>
              <a:t>understand</a:t>
            </a:r>
            <a:r>
              <a:rPr lang="en-IN" sz="1478"/>
              <a:t> how they are influencing the pricing</a:t>
            </a:r>
            <a:endParaRPr sz="1478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For my project I have considered, Brand, </a:t>
            </a:r>
            <a:r>
              <a:rPr lang="en-IN" sz="1478"/>
              <a:t>Processor</a:t>
            </a:r>
            <a:r>
              <a:rPr lang="en-IN" sz="1478"/>
              <a:t>, RAM, Storage, Screen size, discounts, ratings and price as key parameters and analyzed the collected data to identify the pricing </a:t>
            </a:r>
            <a:r>
              <a:rPr lang="en-IN" sz="1478"/>
              <a:t>patterns</a:t>
            </a:r>
            <a:r>
              <a:rPr lang="en-IN" sz="1478"/>
              <a:t> and relationship between the above specifications and price along with each parameter comparison</a:t>
            </a:r>
            <a:endParaRPr sz="1478"/>
          </a:p>
          <a:p>
            <a:pPr indent="-265430" lvl="1" marL="8100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Processor comparison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265430" lvl="1" marL="8100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RAM comparison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265430" lvl="1" marL="8100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SSD comparison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265430" lvl="1" marL="8100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Brand comparison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265430" lvl="1" marL="8100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Premium laptops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180001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8"/>
          </a:p>
          <a:p>
            <a:pPr indent="-180001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8"/>
          </a:p>
          <a:p>
            <a:pPr indent="-18000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22"/>
              <a:t>Problem Statement:</a:t>
            </a:r>
            <a:endParaRPr b="1" sz="2022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Amazon</a:t>
            </a:r>
            <a:r>
              <a:rPr lang="en-IN" sz="1478"/>
              <a:t> has various Laptop brands across different price segments and specification ranging from affordable to high end premium laptops.</a:t>
            </a:r>
            <a:endParaRPr sz="1478"/>
          </a:p>
          <a:p>
            <a:pPr indent="-264456" lvl="0" marL="4500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478"/>
              <a:t>The problem statement is to:</a:t>
            </a:r>
            <a:endParaRPr sz="1478"/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Identity</a:t>
            </a: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 the laptop pricing </a:t>
            </a: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patterns across the brands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How different processors prices compare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and SSD capacity varies across products and their r</a:t>
            </a: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elationship with price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Analyse discounts offered on laptops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Examine customer ratings across different laptops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3130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478">
                <a:latin typeface="Calibri"/>
                <a:ea typeface="Calibri"/>
                <a:cs typeface="Calibri"/>
                <a:sym typeface="Calibri"/>
              </a:rPr>
              <a:t>Characteristics associated with premium laptops</a:t>
            </a:r>
            <a:endParaRPr sz="1478">
              <a:latin typeface="Calibri"/>
              <a:ea typeface="Calibri"/>
              <a:cs typeface="Calibri"/>
              <a:sym typeface="Calibri"/>
            </a:endParaRPr>
          </a:p>
          <a:p>
            <a:pPr indent="-180001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-180001" lvl="0" marL="45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78"/>
              <a:t>Used scraped Amazon India laptop to Identify these market patterns</a:t>
            </a:r>
            <a:endParaRPr sz="1478"/>
          </a:p>
        </p:txBody>
      </p:sp>
      <p:cxnSp>
        <p:nvCxnSpPr>
          <p:cNvPr id="120" name="Google Shape;120;g3fbcdcf5514_0_5"/>
          <p:cNvCxnSpPr/>
          <p:nvPr/>
        </p:nvCxnSpPr>
        <p:spPr>
          <a:xfrm flipH="1" rot="10800000">
            <a:off x="974694" y="3018775"/>
            <a:ext cx="10242600" cy="1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a21b44cf2_0_1"/>
          <p:cNvSpPr/>
          <p:nvPr/>
        </p:nvSpPr>
        <p:spPr>
          <a:xfrm>
            <a:off x="918025" y="3184075"/>
            <a:ext cx="10299300" cy="2830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40a21b44cf2_0_1"/>
          <p:cNvSpPr/>
          <p:nvPr/>
        </p:nvSpPr>
        <p:spPr>
          <a:xfrm>
            <a:off x="946350" y="424550"/>
            <a:ext cx="10299300" cy="2527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40a21b44cf2_0_1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-9000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Project Objective</a:t>
            </a:r>
            <a:r>
              <a:rPr b="1" lang="en-IN" sz="1844"/>
              <a:t>:</a:t>
            </a:r>
            <a:endParaRPr b="1" sz="144"/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/>
              <a:t>The main objective of this project is to collect, clean, analyse and visualize laptop market data from Amazon India and identify the relationships between laptops specifications, Brands and pricings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Collected laptop products information from Amazon India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Extract product attributes: Brand, Processors, RAM, SSD/Storage, Screen size, Price, Discount, Ratings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Clean and standardize the scraped data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Handling missing values, Inconsistent, Duplicate values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Analyze Brand-wise pricing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Perform Brand, Processor, RAM, SSD comparison across products available 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Analyse relationship between RAM and Price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Identify and analyse premium laptops based on their price</a:t>
            </a:r>
            <a:endParaRPr sz="1400"/>
          </a:p>
          <a:p>
            <a:pPr indent="-178900" lvl="0" marL="45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Visualize the findings using appropriate charts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18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Website Selection &amp; Data Source:</a:t>
            </a:r>
            <a:endParaRPr b="1" sz="18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Website Selection: Amazon India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Website URL </a:t>
            </a:r>
            <a:r>
              <a:rPr lang="en-IN" sz="1400" u="sng">
                <a:solidFill>
                  <a:schemeClr val="hlink"/>
                </a:solidFill>
                <a:hlinkClick r:id="rId3"/>
              </a:rPr>
              <a:t>https://www.amazon.in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Data Source: the data was collected from Amazon India Laptop search result page and used publicly available information through amazon search results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Main attributes collected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Brand_name	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Processor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RAM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SSD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Screen_Size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Price Discount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/>
              <a:t>Rating</a:t>
            </a:r>
            <a:endParaRPr sz="1400"/>
          </a:p>
        </p:txBody>
      </p:sp>
      <p:cxnSp>
        <p:nvCxnSpPr>
          <p:cNvPr id="129" name="Google Shape;129;g40a21b44cf2_0_1"/>
          <p:cNvCxnSpPr/>
          <p:nvPr/>
        </p:nvCxnSpPr>
        <p:spPr>
          <a:xfrm flipH="1" rot="10800000">
            <a:off x="974694" y="3058246"/>
            <a:ext cx="10242600" cy="1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a21b44cf2_0_2241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Data Collection Process:</a:t>
            </a:r>
            <a:endParaRPr b="1" sz="1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/>
              <a:t>The Data collection process includes the following steps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36" name="Google Shape;136;g40a21b44cf2_0_2241"/>
          <p:cNvGrpSpPr/>
          <p:nvPr/>
        </p:nvGrpSpPr>
        <p:grpSpPr>
          <a:xfrm>
            <a:off x="957325" y="1196816"/>
            <a:ext cx="10089619" cy="463093"/>
            <a:chOff x="444182" y="438789"/>
            <a:chExt cx="7567404" cy="731700"/>
          </a:xfrm>
        </p:grpSpPr>
        <p:sp>
          <p:nvSpPr>
            <p:cNvPr id="137" name="Google Shape;137;g40a21b44cf2_0_2241"/>
            <p:cNvSpPr txBox="1"/>
            <p:nvPr/>
          </p:nvSpPr>
          <p:spPr>
            <a:xfrm>
              <a:off x="444182" y="488975"/>
              <a:ext cx="22710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440"/>
                <a:buNone/>
              </a:pPr>
              <a:r>
                <a:rPr lang="en-IN" sz="1620">
                  <a:solidFill>
                    <a:srgbClr val="0B774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Access Amazon Laptop search pages</a:t>
              </a:r>
              <a:endParaRPr sz="1620">
                <a:solidFill>
                  <a:srgbClr val="0B774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38" name="Google Shape;138;g40a21b44cf2_0_2241"/>
            <p:cNvSpPr/>
            <p:nvPr/>
          </p:nvSpPr>
          <p:spPr>
            <a:xfrm>
              <a:off x="2789785" y="438789"/>
              <a:ext cx="5221800" cy="7317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40a21b44cf2_0_2241"/>
            <p:cNvSpPr txBox="1"/>
            <p:nvPr/>
          </p:nvSpPr>
          <p:spPr>
            <a:xfrm>
              <a:off x="2789791" y="523063"/>
              <a:ext cx="4890300" cy="5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Selenium is used to open Amazon India Laptop search results pages and the browser dynamically generated web pages [</a:t>
              </a:r>
              <a:r>
                <a:rPr b="1"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driver.get(url)</a:t>
              </a: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g40a21b44cf2_0_2241"/>
          <p:cNvGrpSpPr/>
          <p:nvPr/>
        </p:nvGrpSpPr>
        <p:grpSpPr>
          <a:xfrm>
            <a:off x="1099448" y="1756535"/>
            <a:ext cx="9710309" cy="463093"/>
            <a:chOff x="550777" y="1323161"/>
            <a:chExt cx="7282914" cy="731700"/>
          </a:xfrm>
        </p:grpSpPr>
        <p:sp>
          <p:nvSpPr>
            <p:cNvPr id="141" name="Google Shape;141;g40a21b44cf2_0_2241"/>
            <p:cNvSpPr txBox="1"/>
            <p:nvPr/>
          </p:nvSpPr>
          <p:spPr>
            <a:xfrm>
              <a:off x="550777" y="1373350"/>
              <a:ext cx="21645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rm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B774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Obtain Page source</a:t>
              </a:r>
              <a:endParaRPr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42" name="Google Shape;142;g40a21b44cf2_0_2241"/>
            <p:cNvSpPr/>
            <p:nvPr/>
          </p:nvSpPr>
          <p:spPr>
            <a:xfrm>
              <a:off x="2789790" y="1323161"/>
              <a:ext cx="5043900" cy="7317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g40a21b44cf2_0_2241"/>
            <p:cNvSpPr txBox="1"/>
            <p:nvPr/>
          </p:nvSpPr>
          <p:spPr>
            <a:xfrm>
              <a:off x="2789791" y="1578244"/>
              <a:ext cx="49476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loaded HTML was obtained using Selenium     html = driver.page_source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g40a21b44cf2_0_2241"/>
          <p:cNvGrpSpPr/>
          <p:nvPr/>
        </p:nvGrpSpPr>
        <p:grpSpPr>
          <a:xfrm>
            <a:off x="1182351" y="2314188"/>
            <a:ext cx="9351013" cy="463093"/>
            <a:chOff x="612955" y="2204270"/>
            <a:chExt cx="7013435" cy="731700"/>
          </a:xfrm>
        </p:grpSpPr>
        <p:sp>
          <p:nvSpPr>
            <p:cNvPr id="145" name="Google Shape;145;g40a21b44cf2_0_2241"/>
            <p:cNvSpPr txBox="1"/>
            <p:nvPr/>
          </p:nvSpPr>
          <p:spPr>
            <a:xfrm>
              <a:off x="612955" y="2254450"/>
              <a:ext cx="21021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rm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en-IN" sz="1600">
                  <a:solidFill>
                    <a:srgbClr val="0B774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Parse the HTML</a:t>
              </a:r>
              <a:endParaRPr sz="1600">
                <a:solidFill>
                  <a:srgbClr val="0B774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46" name="Google Shape;146;g40a21b44cf2_0_2241"/>
            <p:cNvSpPr/>
            <p:nvPr/>
          </p:nvSpPr>
          <p:spPr>
            <a:xfrm>
              <a:off x="2789791" y="2204270"/>
              <a:ext cx="4836600" cy="7317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40a21b44cf2_0_2241"/>
            <p:cNvSpPr txBox="1"/>
            <p:nvPr/>
          </p:nvSpPr>
          <p:spPr>
            <a:xfrm>
              <a:off x="2830610" y="2410812"/>
              <a:ext cx="42333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BeautifulSoup is used to parse the HTML[ soup = BeautifulSoup(html, "html.parser")] 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g40a21b44cf2_0_2241"/>
          <p:cNvGrpSpPr/>
          <p:nvPr/>
        </p:nvGrpSpPr>
        <p:grpSpPr>
          <a:xfrm>
            <a:off x="1524224" y="2873866"/>
            <a:ext cx="8742919" cy="556320"/>
            <a:chOff x="894623" y="3088634"/>
            <a:chExt cx="6031263" cy="879002"/>
          </a:xfrm>
        </p:grpSpPr>
        <p:sp>
          <p:nvSpPr>
            <p:cNvPr id="149" name="Google Shape;149;g40a21b44cf2_0_2241"/>
            <p:cNvSpPr txBox="1"/>
            <p:nvPr/>
          </p:nvSpPr>
          <p:spPr>
            <a:xfrm>
              <a:off x="894623" y="3138814"/>
              <a:ext cx="16608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440"/>
                <a:buNone/>
              </a:pPr>
              <a:r>
                <a:rPr lang="en-IN" sz="1600">
                  <a:solidFill>
                    <a:srgbClr val="0C814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Product Listing</a:t>
              </a:r>
              <a:endParaRPr sz="1600">
                <a:solidFill>
                  <a:srgbClr val="0C814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50" name="Google Shape;150;g40a21b44cf2_0_2241"/>
            <p:cNvSpPr/>
            <p:nvPr/>
          </p:nvSpPr>
          <p:spPr>
            <a:xfrm>
              <a:off x="2671286" y="3088634"/>
              <a:ext cx="4254600" cy="7317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40a21b44cf2_0_2241"/>
            <p:cNvSpPr txBox="1"/>
            <p:nvPr/>
          </p:nvSpPr>
          <p:spPr>
            <a:xfrm>
              <a:off x="2698518" y="3235936"/>
              <a:ext cx="40659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Laptop search result containers were identified using their HTML attributes [ products = soup.find_all("div", attrs={"data-component-type": "s-search-result"})]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g40a21b44cf2_0_2241"/>
          <p:cNvGrpSpPr/>
          <p:nvPr/>
        </p:nvGrpSpPr>
        <p:grpSpPr>
          <a:xfrm>
            <a:off x="1800500" y="3433621"/>
            <a:ext cx="8209802" cy="463093"/>
            <a:chOff x="1076579" y="3973005"/>
            <a:chExt cx="6157505" cy="731700"/>
          </a:xfrm>
        </p:grpSpPr>
        <p:sp>
          <p:nvSpPr>
            <p:cNvPr id="153" name="Google Shape;153;g40a21b44cf2_0_2241"/>
            <p:cNvSpPr/>
            <p:nvPr/>
          </p:nvSpPr>
          <p:spPr>
            <a:xfrm>
              <a:off x="2789791" y="3973005"/>
              <a:ext cx="4444200" cy="7317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g40a21b44cf2_0_2241"/>
            <p:cNvSpPr txBox="1"/>
            <p:nvPr/>
          </p:nvSpPr>
          <p:spPr>
            <a:xfrm>
              <a:off x="2789884" y="4179548"/>
              <a:ext cx="44442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xtract available information of all attributes from each product listings [</a:t>
              </a:r>
              <a:r>
                <a:rPr b="1"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re.findall(.....)</a:t>
              </a: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] 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g40a21b44cf2_0_2241"/>
            <p:cNvSpPr txBox="1"/>
            <p:nvPr/>
          </p:nvSpPr>
          <p:spPr>
            <a:xfrm>
              <a:off x="1076579" y="4023186"/>
              <a:ext cx="16386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E945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Extract product Information</a:t>
              </a:r>
              <a:endParaRPr sz="1600">
                <a:solidFill>
                  <a:srgbClr val="0E945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56" name="Google Shape;156;g40a21b44cf2_0_2241"/>
          <p:cNvGrpSpPr/>
          <p:nvPr/>
        </p:nvGrpSpPr>
        <p:grpSpPr>
          <a:xfrm>
            <a:off x="1943210" y="4559054"/>
            <a:ext cx="7514681" cy="463093"/>
            <a:chOff x="1184436" y="3973018"/>
            <a:chExt cx="5636152" cy="731700"/>
          </a:xfrm>
        </p:grpSpPr>
        <p:sp>
          <p:nvSpPr>
            <p:cNvPr id="157" name="Google Shape;157;g40a21b44cf2_0_2241"/>
            <p:cNvSpPr/>
            <p:nvPr/>
          </p:nvSpPr>
          <p:spPr>
            <a:xfrm>
              <a:off x="2789788" y="3973018"/>
              <a:ext cx="4030800" cy="7317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g40a21b44cf2_0_2241"/>
            <p:cNvSpPr txBox="1"/>
            <p:nvPr/>
          </p:nvSpPr>
          <p:spPr>
            <a:xfrm>
              <a:off x="2789788" y="4114834"/>
              <a:ext cx="4030800" cy="47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collected data was saved for further processing and exploratory data analysis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g40a21b44cf2_0_2241"/>
            <p:cNvSpPr txBox="1"/>
            <p:nvPr/>
          </p:nvSpPr>
          <p:spPr>
            <a:xfrm>
              <a:off x="1184436" y="4023189"/>
              <a:ext cx="1530600" cy="6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rmAutofit/>
            </a:bodyPr>
            <a:lstStyle/>
            <a:p>
              <a:pPr indent="0" lvl="0" marL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E945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Save the Dataset</a:t>
              </a:r>
              <a:endParaRPr sz="1600">
                <a:solidFill>
                  <a:srgbClr val="0E945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60" name="Google Shape;160;g40a21b44cf2_0_2241"/>
          <p:cNvGrpSpPr/>
          <p:nvPr/>
        </p:nvGrpSpPr>
        <p:grpSpPr>
          <a:xfrm>
            <a:off x="1879450" y="3991148"/>
            <a:ext cx="7854902" cy="494852"/>
            <a:chOff x="1129672" y="3973001"/>
            <a:chExt cx="5436295" cy="781880"/>
          </a:xfrm>
        </p:grpSpPr>
        <p:sp>
          <p:nvSpPr>
            <p:cNvPr id="161" name="Google Shape;161;g40a21b44cf2_0_2241"/>
            <p:cNvSpPr/>
            <p:nvPr/>
          </p:nvSpPr>
          <p:spPr>
            <a:xfrm>
              <a:off x="2666267" y="3973001"/>
              <a:ext cx="3899700" cy="7317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40a21b44cf2_0_2241"/>
            <p:cNvSpPr txBox="1"/>
            <p:nvPr/>
          </p:nvSpPr>
          <p:spPr>
            <a:xfrm>
              <a:off x="2666267" y="4179539"/>
              <a:ext cx="37344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extracted information is stores in Python list and then converted into a Pandas DataFrame [</a:t>
              </a:r>
              <a:r>
                <a:rPr b="1"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df=pd.DataFrame(...)</a:t>
              </a: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]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g40a21b44cf2_0_2241"/>
            <p:cNvSpPr txBox="1"/>
            <p:nvPr/>
          </p:nvSpPr>
          <p:spPr>
            <a:xfrm>
              <a:off x="1129672" y="4023182"/>
              <a:ext cx="14751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25" lIns="121900" spcFirstLastPara="1" rIns="121900" wrap="square" tIns="60925">
              <a:norm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440"/>
                <a:buNone/>
              </a:pPr>
              <a:r>
                <a:rPr lang="en-IN" sz="1600">
                  <a:solidFill>
                    <a:srgbClr val="0E945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Store the Data</a:t>
              </a:r>
              <a:endParaRPr sz="1600">
                <a:solidFill>
                  <a:srgbClr val="0E945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0a21b44cf2_0_9"/>
          <p:cNvSpPr/>
          <p:nvPr/>
        </p:nvSpPr>
        <p:spPr>
          <a:xfrm>
            <a:off x="892629" y="3796400"/>
            <a:ext cx="10299300" cy="2163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40a21b44cf2_0_9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Web Scraping Methodology:</a:t>
            </a:r>
            <a:endParaRPr b="1" sz="1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/>
              <a:t>Used automated web scraping to collect laptop information from Amazon India. Scraping process followed was: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IN" sz="1400"/>
              <a:t>10 </a:t>
            </a:r>
            <a:r>
              <a:rPr lang="en-IN" sz="1400"/>
              <a:t>search</a:t>
            </a:r>
            <a:r>
              <a:rPr lang="en-IN" sz="1400"/>
              <a:t> results were scrapped to </a:t>
            </a:r>
            <a:r>
              <a:rPr lang="en-IN" sz="1400"/>
              <a:t>collect</a:t>
            </a:r>
            <a:r>
              <a:rPr lang="en-IN" sz="1400"/>
              <a:t> large sample of Laptop listings using for loop to </a:t>
            </a:r>
            <a:r>
              <a:rPr lang="en-IN" sz="1400" u="sng">
                <a:solidFill>
                  <a:schemeClr val="hlink"/>
                </a:solidFill>
                <a:hlinkClick r:id="rId3"/>
              </a:rPr>
              <a:t>https://www.amazon.in/s?k=laptops&amp;page={page}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IN" sz="1400"/>
              <a:t>Regular expression is used to extract the required attributes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18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Technologies &amp; Libraries Used:</a:t>
            </a:r>
            <a:endParaRPr b="1" sz="18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IN" sz="1400"/>
              <a:t>Programming</a:t>
            </a:r>
            <a:r>
              <a:rPr b="1" lang="en-IN" sz="1400"/>
              <a:t> Language:</a:t>
            </a:r>
            <a:r>
              <a:rPr lang="en-IN" sz="1400"/>
              <a:t> Python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IN" sz="1400"/>
              <a:t>Libraries: 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Selenium         : 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Automating Browser Interaction and Loading webpages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BeautifulSoup</a:t>
            </a: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Parsing HTML and extracting product information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Pandas           : Data Frame, Data Manipulation and Analysis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NumPy            : Missing-value handling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Regex             : Extracting specifications from HTML text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Matplotlib        : Data Visualization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Seaborn          : Statistical Visualization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g40a21b44cf2_0_9"/>
          <p:cNvGrpSpPr/>
          <p:nvPr/>
        </p:nvGrpSpPr>
        <p:grpSpPr>
          <a:xfrm>
            <a:off x="1247960" y="1161972"/>
            <a:ext cx="9798890" cy="1672750"/>
            <a:chOff x="1247960" y="1211310"/>
            <a:chExt cx="9798890" cy="1672750"/>
          </a:xfrm>
        </p:grpSpPr>
        <p:sp>
          <p:nvSpPr>
            <p:cNvPr id="172" name="Google Shape;172;g40a21b44cf2_0_9"/>
            <p:cNvSpPr/>
            <p:nvPr/>
          </p:nvSpPr>
          <p:spPr>
            <a:xfrm flipH="1">
              <a:off x="5848384" y="2207943"/>
              <a:ext cx="2749500" cy="6759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4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Extract Product Attributes using regex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g40a21b44cf2_0_9"/>
            <p:cNvSpPr/>
            <p:nvPr/>
          </p:nvSpPr>
          <p:spPr>
            <a:xfrm flipH="1">
              <a:off x="3612434" y="2207943"/>
              <a:ext cx="2749500" cy="6759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4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Store Extracted Data using python Lists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4" name="Google Shape;174;g40a21b44cf2_0_9"/>
            <p:cNvGrpSpPr/>
            <p:nvPr/>
          </p:nvGrpSpPr>
          <p:grpSpPr>
            <a:xfrm>
              <a:off x="1247960" y="1211310"/>
              <a:ext cx="9670630" cy="676117"/>
              <a:chOff x="1425551" y="1211350"/>
              <a:chExt cx="9031219" cy="676117"/>
            </a:xfrm>
          </p:grpSpPr>
          <p:sp>
            <p:nvSpPr>
              <p:cNvPr id="175" name="Google Shape;175;g40a21b44cf2_0_9"/>
              <p:cNvSpPr/>
              <p:nvPr/>
            </p:nvSpPr>
            <p:spPr>
              <a:xfrm>
                <a:off x="1425551" y="1211567"/>
                <a:ext cx="2237700" cy="675900"/>
              </a:xfrm>
              <a:prstGeom prst="homePlate">
                <a:avLst>
                  <a:gd fmla="val 50000" name="adj"/>
                </a:avLst>
              </a:prstGeom>
              <a:solidFill>
                <a:srgbClr val="801F17"/>
              </a:solidFill>
              <a:ln>
                <a:noFill/>
              </a:ln>
            </p:spPr>
            <p:txBody>
              <a:bodyPr anchorCtr="0" anchor="ctr" bIns="92375" lIns="92375" spcFirstLastPara="1" rIns="92375" wrap="square" tIns="92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4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Amazon India</a:t>
                </a:r>
                <a:endParaRPr sz="144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6" name="Google Shape;176;g40a21b44cf2_0_9"/>
              <p:cNvSpPr/>
              <p:nvPr/>
            </p:nvSpPr>
            <p:spPr>
              <a:xfrm>
                <a:off x="3283023" y="1211350"/>
                <a:ext cx="2085600" cy="675900"/>
              </a:xfrm>
              <a:prstGeom prst="chevron">
                <a:avLst>
                  <a:gd fmla="val 50000" name="adj"/>
                </a:avLst>
              </a:prstGeom>
              <a:solidFill>
                <a:srgbClr val="A7291E"/>
              </a:solidFill>
              <a:ln>
                <a:noFill/>
              </a:ln>
            </p:spPr>
            <p:txBody>
              <a:bodyPr anchorCtr="0" anchor="ctr" bIns="92375" lIns="92375" spcFirstLastPara="1" rIns="92375" wrap="square" tIns="92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4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Laptop Search Results</a:t>
                </a:r>
                <a:endParaRPr sz="144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7" name="Google Shape;177;g40a21b44cf2_0_9"/>
              <p:cNvSpPr/>
              <p:nvPr/>
            </p:nvSpPr>
            <p:spPr>
              <a:xfrm>
                <a:off x="4978928" y="1211350"/>
                <a:ext cx="2085600" cy="675900"/>
              </a:xfrm>
              <a:prstGeom prst="chevron">
                <a:avLst>
                  <a:gd fmla="val 50000" name="adj"/>
                </a:avLst>
              </a:prstGeom>
              <a:solidFill>
                <a:srgbClr val="B02B20"/>
              </a:solidFill>
              <a:ln>
                <a:noFill/>
              </a:ln>
            </p:spPr>
            <p:txBody>
              <a:bodyPr anchorCtr="0" anchor="ctr" bIns="92375" lIns="92375" spcFirstLastPara="1" rIns="92375" wrap="square" tIns="92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4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Load Webpage using Selenium</a:t>
                </a:r>
                <a:endParaRPr sz="144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8" name="Google Shape;178;g40a21b44cf2_0_9"/>
              <p:cNvSpPr/>
              <p:nvPr/>
            </p:nvSpPr>
            <p:spPr>
              <a:xfrm>
                <a:off x="8371170" y="1211350"/>
                <a:ext cx="2085600" cy="675900"/>
              </a:xfrm>
              <a:prstGeom prst="chevron">
                <a:avLst>
                  <a:gd fmla="val 50000" name="adj"/>
                </a:avLst>
              </a:prstGeom>
              <a:solidFill>
                <a:srgbClr val="D83729"/>
              </a:solidFill>
              <a:ln>
                <a:noFill/>
              </a:ln>
            </p:spPr>
            <p:txBody>
              <a:bodyPr anchorCtr="0" anchor="ctr" bIns="92375" lIns="92375" spcFirstLastPara="1" rIns="92375" wrap="square" tIns="92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4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Parse HTML using BeautifulSoup</a:t>
                </a:r>
                <a:endParaRPr sz="144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9" name="Google Shape;179;g40a21b44cf2_0_9"/>
              <p:cNvSpPr/>
              <p:nvPr/>
            </p:nvSpPr>
            <p:spPr>
              <a:xfrm>
                <a:off x="6675012" y="1211350"/>
                <a:ext cx="2085600" cy="675900"/>
              </a:xfrm>
              <a:prstGeom prst="chevron">
                <a:avLst>
                  <a:gd fmla="val 50000" name="adj"/>
                </a:avLst>
              </a:prstGeom>
              <a:solidFill>
                <a:srgbClr val="BE2F22"/>
              </a:solidFill>
              <a:ln>
                <a:noFill/>
              </a:ln>
            </p:spPr>
            <p:txBody>
              <a:bodyPr anchorCtr="0" anchor="ctr" bIns="92375" lIns="92375" spcFirstLastPara="1" rIns="92375" wrap="square" tIns="923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4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HTML/Page Source</a:t>
                </a:r>
                <a:endParaRPr sz="144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80" name="Google Shape;180;g40a21b44cf2_0_9"/>
            <p:cNvSpPr/>
            <p:nvPr/>
          </p:nvSpPr>
          <p:spPr>
            <a:xfrm>
              <a:off x="9487399" y="1893925"/>
              <a:ext cx="325500" cy="288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40a21b44cf2_0_9"/>
            <p:cNvSpPr/>
            <p:nvPr/>
          </p:nvSpPr>
          <p:spPr>
            <a:xfrm flipH="1">
              <a:off x="8096649" y="2208160"/>
              <a:ext cx="2950200" cy="6759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4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Identify Individual Laptop Listings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g40a21b44cf2_0_9"/>
            <p:cNvSpPr/>
            <p:nvPr/>
          </p:nvSpPr>
          <p:spPr>
            <a:xfrm flipH="1">
              <a:off x="1247971" y="2207943"/>
              <a:ext cx="2749500" cy="6759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4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Create Pandas DataFrame &amp; Save Dataset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a21b44cf2_0_2294"/>
          <p:cNvSpPr/>
          <p:nvPr/>
        </p:nvSpPr>
        <p:spPr>
          <a:xfrm>
            <a:off x="946350" y="424550"/>
            <a:ext cx="10299300" cy="2052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40a21b44cf2_0_2294"/>
          <p:cNvSpPr/>
          <p:nvPr/>
        </p:nvSpPr>
        <p:spPr>
          <a:xfrm>
            <a:off x="918025" y="2707825"/>
            <a:ext cx="10299300" cy="3225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40a21b44cf2_0_2294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18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Raw Dataset Overview</a:t>
            </a:r>
            <a:r>
              <a:rPr b="1" lang="en-IN" sz="1844"/>
              <a:t>:</a:t>
            </a:r>
            <a:endParaRPr b="1" sz="144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The raw dataset contains laptop listings </a:t>
            </a:r>
            <a:r>
              <a:rPr lang="en-IN" sz="1400"/>
              <a:t>collected</a:t>
            </a:r>
            <a:r>
              <a:rPr lang="en-IN" sz="1400"/>
              <a:t> from Amazon india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The main attributes being: Brand, processor, RAM, SSD, Sceen_size, Price, Discount and Rating</a:t>
            </a:r>
            <a:endParaRPr sz="1400"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Before cleaning the Raw dataset extracted contains several </a:t>
            </a:r>
            <a:r>
              <a:rPr lang="en-IN" sz="1400"/>
              <a:t>inconsistencies</a:t>
            </a:r>
            <a:r>
              <a:rPr lang="en-IN" sz="1400"/>
              <a:t> like: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Missing processor, RAM, SSD, Screen_size  Information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Different formats of attributes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Captured 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unnecessary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 information after attributes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Incomplete extraction of data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Hence further cleaning of data is required before performing the analysis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/>
              <a:t>Data Cleaning &amp; </a:t>
            </a:r>
            <a:r>
              <a:rPr b="1" lang="en-IN" sz="1400"/>
              <a:t>Preprocessing</a:t>
            </a:r>
            <a:r>
              <a:rPr b="1" lang="en-IN" sz="1400"/>
              <a:t>:</a:t>
            </a:r>
            <a:endParaRPr b="1" sz="1400"/>
          </a:p>
          <a:p>
            <a:pPr indent="-266950" lvl="0" marL="54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The scraped data was cleaned to make is suitable for analysis</a:t>
            </a:r>
            <a:endParaRPr sz="1400"/>
          </a:p>
          <a:p>
            <a:pPr indent="-266950" lvl="0" marL="54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Missing value analysis</a:t>
            </a:r>
            <a:endParaRPr sz="1400"/>
          </a:p>
          <a:p>
            <a:pPr indent="-266950" lvl="0" marL="54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Cleaning all attributes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Brands: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Overlooked at few Brand names like Ebook, Alienware, Primebook and MSI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</a:pP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Brand names were standardized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Processor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A separate Processor_group is created for processor comparison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RAM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df['RAM'] =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df['RAM'].str.extract(r'(\d+)', expand=False)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df['RAM'] = pd.to_numeric(df['RAM'])</a:t>
            </a:r>
            <a:endParaRPr i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SSD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df['Storage_GB'] =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df['SSD'].str.extract(r'(\d+(?:\.\d+)?)')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df['Storage_GB'] = pd.to_numeric(df['Storage_GB'])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Screen_Size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df['Screen_Size'] =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pd.to_numeric(df['Screen_Size']) &amp; df['Screen_Size'] = df['Screen_Size'].round(1)</a:t>
            </a:r>
            <a:endParaRPr i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■"/>
            </a:pP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Converted TB values to GB and a separate storage-type column is created</a:t>
            </a:r>
            <a:endParaRPr i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Price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df['Price']=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df['Price'].str.replace('[₹,]','',regex=True) &amp; df['Price']=pd.to_numeric(df['Price'])</a:t>
            </a:r>
            <a:endParaRPr i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Discount 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df['Discount'] = df['Discount'].str.extract(r'(\d+)%') &amp; df['Discount'] = pd.to_numeric(df['Discount'])</a:t>
            </a:r>
            <a:endParaRPr i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Rating</a:t>
            </a:r>
            <a:r>
              <a:rPr lang="en-IN" sz="14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IN" sz="1400">
                <a:latin typeface="Calibri"/>
                <a:ea typeface="Calibri"/>
                <a:cs typeface="Calibri"/>
                <a:sym typeface="Calibri"/>
              </a:rPr>
              <a:t>df['Rating']=pd.to_numeric(df['Rating'])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a21b44cf2_0_2309"/>
          <p:cNvSpPr/>
          <p:nvPr/>
        </p:nvSpPr>
        <p:spPr>
          <a:xfrm>
            <a:off x="946350" y="424550"/>
            <a:ext cx="10299300" cy="2174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40a21b44cf2_0_2309"/>
          <p:cNvSpPr/>
          <p:nvPr/>
        </p:nvSpPr>
        <p:spPr>
          <a:xfrm>
            <a:off x="918025" y="2911925"/>
            <a:ext cx="10299300" cy="3061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40a21b44cf2_0_2309"/>
          <p:cNvSpPr txBox="1"/>
          <p:nvPr>
            <p:ph idx="4294967295" type="title"/>
          </p:nvPr>
        </p:nvSpPr>
        <p:spPr>
          <a:xfrm>
            <a:off x="8382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Exploratory Data Analysis</a:t>
            </a:r>
            <a:r>
              <a:rPr b="1" lang="en-IN" sz="1844"/>
              <a:t>:</a:t>
            </a:r>
            <a:endParaRPr b="1" sz="1844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44"/>
              <a:t>EDA is performed to understand the distribution of laptops, specifications and prices from the dataframe. The </a:t>
            </a:r>
            <a:r>
              <a:rPr lang="en-IN" sz="1444"/>
              <a:t>analysis</a:t>
            </a:r>
            <a:r>
              <a:rPr lang="en-IN" sz="1444"/>
              <a:t> is focuses on below areas:</a:t>
            </a:r>
            <a:endParaRPr sz="1444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Brand Comparison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Brand-wise pricing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Processor Comparison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RAM vs Price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SSD Comparison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Premium</a:t>
            </a:r>
            <a:r>
              <a:rPr lang="en-IN" sz="1200"/>
              <a:t> laptop Analysis</a:t>
            </a:r>
            <a:endParaRPr sz="1200"/>
          </a:p>
          <a:p>
            <a:pPr indent="104775" lvl="0" marL="4500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200"/>
              <a:t>Overall Price Distribution</a:t>
            </a:r>
            <a:endParaRPr sz="12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/>
              <a:t>Statistical summaries and visualizations were used to identify the </a:t>
            </a:r>
            <a:r>
              <a:rPr lang="en-IN" sz="1400"/>
              <a:t>patterns</a:t>
            </a:r>
            <a:r>
              <a:rPr lang="en-IN" sz="1400"/>
              <a:t> and relationships within the laptop market</a:t>
            </a:r>
            <a:endParaRPr sz="14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900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Key Analysis and questions</a:t>
            </a:r>
            <a:r>
              <a:rPr b="1" lang="en-IN" sz="1800"/>
              <a:t>:</a:t>
            </a:r>
            <a:endParaRPr b="1" sz="1800"/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/>
              <a:t>Questions used for the analysis</a:t>
            </a:r>
            <a:endParaRPr sz="1400"/>
          </a:p>
          <a:p>
            <a:pPr indent="-317500" lvl="0" marL="72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Brand Analysis: 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which brands have highest number of listings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How pricing vary across brands</a:t>
            </a:r>
            <a:endParaRPr sz="1000"/>
          </a:p>
          <a:p>
            <a:pPr indent="-317500" lvl="0" marL="72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Processor Analysis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Most </a:t>
            </a:r>
            <a:r>
              <a:rPr lang="en-IN" sz="1000"/>
              <a:t>commonly</a:t>
            </a:r>
            <a:r>
              <a:rPr lang="en-IN" sz="1000"/>
              <a:t> </a:t>
            </a:r>
            <a:r>
              <a:rPr lang="en-IN" sz="1000"/>
              <a:t>available</a:t>
            </a:r>
            <a:r>
              <a:rPr lang="en-IN" sz="1000"/>
              <a:t> processor family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How does laptop price vary across processor</a:t>
            </a:r>
            <a:endParaRPr sz="1000"/>
          </a:p>
          <a:p>
            <a:pPr indent="-317500" lvl="0" marL="72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RAM Analysis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Most common RAM capacity in the market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IN" sz="1000">
                <a:solidFill>
                  <a:schemeClr val="dk1"/>
                </a:solidFill>
              </a:rPr>
              <a:t>How does laptop price vary with RAM capacity</a:t>
            </a:r>
            <a:endParaRPr sz="1000"/>
          </a:p>
          <a:p>
            <a:pPr indent="-317500" lvl="0" marL="72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SSD/Storage Analysis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IN" sz="1000">
                <a:solidFill>
                  <a:schemeClr val="dk1"/>
                </a:solidFill>
              </a:rPr>
              <a:t>Most common storage capacity in the market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IN" sz="1000">
                <a:solidFill>
                  <a:schemeClr val="dk1"/>
                </a:solidFill>
              </a:rPr>
              <a:t>How does laptop price vary with Storage capacity</a:t>
            </a:r>
            <a:endParaRPr sz="1500"/>
          </a:p>
          <a:p>
            <a:pPr indent="-317500" lvl="0" marL="7200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1400"/>
              <a:t>Premium Laptop Analysis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IN" sz="1000"/>
              <a:t>Common </a:t>
            </a:r>
            <a:r>
              <a:rPr lang="en-IN" sz="1000"/>
              <a:t>characteristics</a:t>
            </a:r>
            <a:r>
              <a:rPr lang="en-IN" sz="1000"/>
              <a:t> </a:t>
            </a:r>
            <a:r>
              <a:rPr lang="en-IN" sz="1000"/>
              <a:t>among</a:t>
            </a:r>
            <a:r>
              <a:rPr lang="en-IN" sz="1000"/>
              <a:t> premium laptops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IN" sz="1000">
                <a:solidFill>
                  <a:schemeClr val="dk1"/>
                </a:solidFill>
              </a:rPr>
              <a:t>Common characteristics found in premium price segments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0a21b44cf2_0_2314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Visualizations and Insights: </a:t>
            </a:r>
            <a:r>
              <a:rPr lang="en-IN" sz="1444"/>
              <a:t>Visualizations used in the projects are:</a:t>
            </a:r>
            <a:endParaRPr sz="14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g40a21b44cf2_0_2314"/>
          <p:cNvSpPr/>
          <p:nvPr/>
        </p:nvSpPr>
        <p:spPr>
          <a:xfrm>
            <a:off x="976075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 and Lenovo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the highest number of laptops listings, with around 42,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that's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more than 50% of the market followed by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Acer-27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ASUS-19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 and Lenovo together represents large portion of the listings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Dell being known as a popular brand in the market has considerably fewer than HP, Lenovo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brands like MSI, primebook, EBook, JioBook and Alienware contributed has few listings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40a21b44cf2_0_2314"/>
          <p:cNvSpPr/>
          <p:nvPr/>
        </p:nvSpPr>
        <p:spPr>
          <a:xfrm>
            <a:off x="6180300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Brand-wise Pricing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has the highest average pricing (~3.3 lakh) having Macbook pro models with M5 processor, followed by Alienware with ~3.1 lakh due to its high end gaming laptops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ASUS and MSI are also falling into premium segment with ~1.4 to 1.5 lakh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HP, Samsung, Lenovo, falling in mid range as these brands offering the products across budget, mid-range and premium categories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Dell and Acer are relatively affordable brands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EBook, JioBook, primebook have lowest average prices targeting entry level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g40a21b44cf2_0_2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088" y="1335512"/>
            <a:ext cx="4435779" cy="26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40a21b44cf2_0_23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650" y="1322254"/>
            <a:ext cx="4435774" cy="27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0a21b44cf2_0_2449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Visualizations and Insights: </a:t>
            </a:r>
            <a:r>
              <a:rPr lang="en-IN" sz="1444"/>
              <a:t>(</a:t>
            </a:r>
            <a:r>
              <a:rPr lang="en-IN" sz="1444"/>
              <a:t>Continued</a:t>
            </a:r>
            <a:r>
              <a:rPr lang="en-IN" sz="1444"/>
              <a:t>…)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g40a21b44cf2_0_2449"/>
          <p:cNvSpPr/>
          <p:nvPr/>
        </p:nvSpPr>
        <p:spPr>
          <a:xfrm>
            <a:off x="976075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Processor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Core 5/i5 is most represented processor family about 25 laptops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followed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Intel Core U and AMD Ryzen 5 with 22 &amp; 16 laptops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Core 7/i7 (19),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Core 3/i3 (17) being next lead processor group, the dataset is dominated by Intel processors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AMD Ryzen 3 &amp; 7 have moderate representation with 14 and 12 laptops, together most represented AMD Ryzen category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MediaTek and Apple M-Series has very limited presents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5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Snapdragon, AMD Athlon, AMD Ryzen 9, Intel Core i9, Intel N-Series, Intel Core Ultra, and Intel Pentium—have relatively few listings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40a21b44cf2_0_2449"/>
          <p:cNvSpPr/>
          <p:nvPr/>
        </p:nvSpPr>
        <p:spPr>
          <a:xfrm>
            <a:off x="6180300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Processor VS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Apple’s M-series Processor laptops maintain highest processor laptops maintain a higher average selling price than any competitors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and AMD both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maintains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significant share where Intel Core 9/i9 and AMD Ryzen 9 holds highest share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followed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Intel Core Ultra and Intel Core 7/i7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Snapdragon, Intel Core 5/i5, AMD Ryzen 5 and Intel Core 3/i3 fall into Mid-Range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AMD Ryzen 3, AMD Athlon and Intel Pentium being lower-mid range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followed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Intel N-series, Intel Celeron and Mediatek being lowest avg prices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g40a21b44cf2_0_24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50" y="1301639"/>
            <a:ext cx="4484799" cy="271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40a21b44cf2_0_24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5100" y="1250031"/>
            <a:ext cx="4622301" cy="267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0a21b44cf2_0_2461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Visualizations and Insights: </a:t>
            </a:r>
            <a:r>
              <a:rPr lang="en-IN" sz="1444"/>
              <a:t>(Continued…)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5" name="Google Shape;225;g40a21b44cf2_0_2461"/>
          <p:cNvSpPr/>
          <p:nvPr/>
        </p:nvSpPr>
        <p:spPr>
          <a:xfrm>
            <a:off x="976075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distribution is highly concentrated at 16 GB with 84 laptops, this shows that 16GB is the target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most brands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largest category is 8 GB, with around 47 laptops. This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targets entry-level or budget oriented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High-capacity tires like 24.0 GB, 32.0 GB, 48.0 GB, 36.0 GB represent smaller, specialized segments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5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 GB, 6.0 GB has fewer laptops in market and 12.0 GB remains Niche capacities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40a21b44cf2_0_2461"/>
          <p:cNvSpPr/>
          <p:nvPr/>
        </p:nvSpPr>
        <p:spPr>
          <a:xfrm>
            <a:off x="6180300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 Price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Laptop price trends upward as RAM capacity increases, moving from 20,000 for standard 4.0 GB to 6,00,000 for 48 GB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 GB to 12.0 GB laptops are budget level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16.0 GB to 32.0 GB has laptops from budget level to premium categories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◆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 are retained as p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 of project as removing all price outliers would remove part of premium laptop segment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GB has wider boxes, indicates mid-tier &amp; High-Perform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36.0 and 48.0 GB holds highest price point in the chart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g40a21b44cf2_0_24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50" y="1316258"/>
            <a:ext cx="4484800" cy="26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40a21b44cf2_0_24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675" y="1335500"/>
            <a:ext cx="4484800" cy="2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a21b44cf2_0_2472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Visualizations and Insights: </a:t>
            </a:r>
            <a:r>
              <a:rPr lang="en-IN" sz="1444"/>
              <a:t>(Continued…)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5" name="Google Shape;235;g40a21b44cf2_0_2472"/>
          <p:cNvSpPr/>
          <p:nvPr/>
        </p:nvSpPr>
        <p:spPr>
          <a:xfrm>
            <a:off x="976075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Capacity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512.0 GB is the dominant Market Mode where 62% more than half of the total share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ollowed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1 TB represents 34 laptops. This shows that there is a demand for high storage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could be driven by larger software installs and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gaming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laptops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capacity of 256.0 GB and below collectively has less market around 10 Laptops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5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32.0 GB, 64.0 GB, 128 GB, 500 GB and 2 TB are very few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40a21b44cf2_0_2472"/>
          <p:cNvSpPr/>
          <p:nvPr/>
        </p:nvSpPr>
        <p:spPr>
          <a:xfrm>
            <a:off x="6180300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 Price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like RAM, SSD also has a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positive correlation between Storage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capacity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Price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massive price leap f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rom 1 to 2 TB,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from 32.0 GB to 1 TB, 2 TB SSDs into high-end gaming laptops and professional workstations equipped with top-tier GPUs, CPUs, displays, and cooling solutions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GB laptops are mostly mid-range, with a few high-priced outliers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alone does not determine price,  processor, RAM, and brand also play an important role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40a21b44cf2_0_24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54" y="1286575"/>
            <a:ext cx="4353324" cy="27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40a21b44cf2_0_24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5100" y="1287665"/>
            <a:ext cx="4435775" cy="2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70f45ea2bda48d73_0_21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Visualizations and Insights: </a:t>
            </a:r>
            <a:r>
              <a:rPr lang="en-IN" sz="1444"/>
              <a:t>(Continued…)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5" name="Google Shape;245;h70f45ea2bda48d73_0_21"/>
          <p:cNvSpPr/>
          <p:nvPr/>
        </p:nvSpPr>
        <p:spPr>
          <a:xfrm>
            <a:off x="976075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rating shows that most laptops fall with Good and Average ratings. Premium Laptops show high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percentage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around 3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for poor and 22.5% excellent ratings. This shows that higher priced laptops does not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necessarily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fall into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customer ratings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5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larger group of non-premium laptops are Good 38%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followed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rated 38.3 % only 7.5% are Excellent-rated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h70f45ea2bda48d73_0_21"/>
          <p:cNvSpPr/>
          <p:nvPr/>
        </p:nvSpPr>
        <p:spPr>
          <a:xfrm>
            <a:off x="6180300" y="971075"/>
            <a:ext cx="4970700" cy="50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Ratings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 Price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laptops priced around 1 Lakh are rated between 3.5 to 4.5, Hence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 direct 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higher price and rating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Highest-priced laptops  have ratings around 4.4–5.0, but there are also lower-priced laptops with similar ratings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6200" lvl="0" marL="269999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➔"/>
            </a:pPr>
            <a:r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few laptops with lower ratings also have relatively high prices, this shows price does not guarantee a higher customer rating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h70f45ea2bda48d7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50" y="1286575"/>
            <a:ext cx="4435776" cy="2213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h70f45ea2bda48d73_0_21"/>
          <p:cNvGraphicFramePr/>
          <p:nvPr/>
        </p:nvGraphicFramePr>
        <p:xfrm>
          <a:off x="1209638" y="357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{27C30E01-7521-44D5-A1A9-0422751B4B0D}</a:tableStyleId>
              </a:tblPr>
              <a:tblGrid>
                <a:gridCol w="1336900"/>
                <a:gridCol w="871675"/>
                <a:gridCol w="980200"/>
                <a:gridCol w="670050"/>
                <a:gridCol w="576975"/>
              </a:tblGrid>
              <a:tr h="18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Rating_group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Average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Excellent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Good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Poor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18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LaptopSegment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Not_premium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35.8%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7.5%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38.3%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18.3%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/>
                        <a:t>Premium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12.5%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22.5%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30.0%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/>
                        <a:t>35%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49" name="Google Shape;249;h70f45ea2bda48d73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5100" y="1287675"/>
            <a:ext cx="4435774" cy="264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70f45ea2bda48d73_0_36"/>
          <p:cNvSpPr txBox="1"/>
          <p:nvPr>
            <p:ph idx="4294967295" type="title"/>
          </p:nvPr>
        </p:nvSpPr>
        <p:spPr>
          <a:xfrm>
            <a:off x="754100" y="356450"/>
            <a:ext cx="10515600" cy="58299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4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44"/>
              <a:t>Premium Laptops Insights:</a:t>
            </a:r>
            <a:endParaRPr b="1" sz="1844"/>
          </a:p>
          <a:p>
            <a:pPr indent="-3028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IN" sz="1300"/>
              <a:t>Premium Laptops are considered based on the price threshold, RAM, storage, processor, and brand results describe the characteristics of those high-priced laptops, they are not the criteria used to classify them as premium 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25% of the laptops are classified as Premium</a:t>
            </a:r>
            <a:r>
              <a:rPr lang="en-IN" sz="1300"/>
              <a:t> — 40 out of 160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HP has the highest number of premium laptops</a:t>
            </a:r>
            <a:r>
              <a:rPr lang="en-IN" sz="1300"/>
              <a:t> with 10, followed by ASUS, Apple, and Lenovo with 8 each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Intel Core U is the most common processor group</a:t>
            </a:r>
            <a:r>
              <a:rPr lang="en-IN" sz="1300"/>
              <a:t> among premium laptops, with 13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Apple M-series</a:t>
            </a:r>
            <a:r>
              <a:rPr lang="en-IN" sz="1300"/>
              <a:t> is the second most common processor group, with 8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16 GB RAM is the most common configuration</a:t>
            </a:r>
            <a:r>
              <a:rPr lang="en-IN" sz="1300"/>
              <a:t>, found in 22 premium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1 TB storage is the most common storage configuration</a:t>
            </a:r>
            <a:r>
              <a:rPr lang="en-IN" sz="1300"/>
              <a:t>, found in 22 premium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IN" sz="1300"/>
              <a:t>512 GB storage</a:t>
            </a:r>
            <a:r>
              <a:rPr lang="en-IN" sz="1300"/>
              <a:t> is also common, with 9 premium laptops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IN" sz="1300"/>
              <a:t>Higher RAM configurations such as </a:t>
            </a:r>
            <a:r>
              <a:rPr b="1" lang="en-IN" sz="1300"/>
              <a:t>32 GB, 36 GB, and 48 GB</a:t>
            </a:r>
            <a:r>
              <a:rPr lang="en-IN" sz="1300"/>
              <a:t> appear among premium laptops, but less frequently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44"/>
              <a:t>Conclusion and Key findings:</a:t>
            </a:r>
            <a:endParaRPr b="1" sz="1844"/>
          </a:p>
          <a:p>
            <a:pPr indent="-3028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1300"/>
              <a:t>The analysis shows that </a:t>
            </a:r>
            <a:r>
              <a:rPr b="1" lang="en-IN" sz="1300"/>
              <a:t>laptop price is influenced by multiple factors</a:t>
            </a:r>
            <a:r>
              <a:rPr lang="en-IN" sz="1300"/>
              <a:t>, including brand, processor, RAM, storage, and other specifications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300"/>
              <a:t>16 GB RAM and 512 GB storage are among the most common in the dataset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300"/>
              <a:t>Intel processors have the largest representation, while Apple M-series processors have a significant presence in the higher-priced segment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300"/>
              <a:t>Laptop prices generally increase with higher RAM and storage capacity, but the same specification can have a wide range of prices depending on the brand and processor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IN" sz="1300"/>
              <a:t>Using the 75th percentile of price as the threshold, 25% of the laptops were classified as Premium and 75% as Not_Premium</a:t>
            </a:r>
            <a:endParaRPr sz="1300"/>
          </a:p>
          <a:p>
            <a:pPr indent="-3028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300">
                <a:latin typeface="Calibri"/>
                <a:ea typeface="Calibri"/>
                <a:cs typeface="Calibri"/>
                <a:sym typeface="Calibri"/>
              </a:rPr>
              <a:t>Among premium laptops, 16 GB RAM and 1 TB storage are the most common </a:t>
            </a:r>
            <a:r>
              <a:rPr lang="en-IN" sz="1300"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n-IN" sz="1300">
                <a:latin typeface="Calibri"/>
                <a:ea typeface="Calibri"/>
                <a:cs typeface="Calibri"/>
                <a:sym typeface="Calibri"/>
              </a:rPr>
              <a:t> followed by 512 GB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IN" sz="1300"/>
              <a:t>HP </a:t>
            </a:r>
            <a:r>
              <a:rPr lang="en-IN" sz="1300"/>
              <a:t>has the highest number of </a:t>
            </a:r>
            <a:r>
              <a:rPr b="1" lang="en-IN" sz="1300"/>
              <a:t>premium listings in dataset</a:t>
            </a:r>
            <a:r>
              <a:rPr lang="en-IN" sz="1300"/>
              <a:t>, followed by ASUS, Apple, and Lenovo</a:t>
            </a:r>
            <a:endParaRPr sz="1300"/>
          </a:p>
          <a:p>
            <a:pPr indent="-3028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IN" sz="1300"/>
              <a:t>Customer ratings don't have a strong direct relationship with price</a:t>
            </a:r>
            <a:r>
              <a:rPr lang="en-IN" sz="1300"/>
              <a:t>. High-priced laptops can have high ratings, and are also found among lower-priced laptops</a:t>
            </a:r>
            <a:endParaRPr sz="1300"/>
          </a:p>
          <a:p>
            <a:pPr indent="-3028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300">
                <a:latin typeface="Calibri"/>
                <a:ea typeface="Calibri"/>
                <a:cs typeface="Calibri"/>
                <a:sym typeface="Calibri"/>
              </a:rPr>
              <a:t>Premium laptops show a wider variation in rating groups, with both Excellent and Poor ratings represented significantly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028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-IN" sz="1300">
                <a:latin typeface="Calibri"/>
                <a:ea typeface="Calibri"/>
                <a:cs typeface="Calibri"/>
                <a:sym typeface="Calibri"/>
              </a:rPr>
              <a:t>Overall, a higher laptop price does not necessarily mean a higher customer rating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b="0" i="0" lang="en-IN" sz="4400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Bhavana Koneti</dc:creator>
  <dcterms:created xsi:type="dcterms:W3CDTF">2021-02-16T05:19:01Z</dcterms:created>
</cp:coreProperties>
</file>